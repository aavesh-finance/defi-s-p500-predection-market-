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B7462-812B-4831-9E3B-DF78AD1CD9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6BA612-8DCA-45C4-8DEF-B79BA1453C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6C4EEA-6173-47E6-B2E8-F12BFC76B805}"/>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5" name="Footer Placeholder 4">
            <a:extLst>
              <a:ext uri="{FF2B5EF4-FFF2-40B4-BE49-F238E27FC236}">
                <a16:creationId xmlns:a16="http://schemas.microsoft.com/office/drawing/2014/main" id="{2C3FF098-256A-4F80-B786-1B14BA87B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7423DB-93F5-4709-9202-EBE71DC85397}"/>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783222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12445-9213-4317-9E6F-0658CF4898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5DBC26-24DB-44BB-8E59-3D9DD6341B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934C6-C9F6-4C3B-811E-690283E5EFDC}"/>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5" name="Footer Placeholder 4">
            <a:extLst>
              <a:ext uri="{FF2B5EF4-FFF2-40B4-BE49-F238E27FC236}">
                <a16:creationId xmlns:a16="http://schemas.microsoft.com/office/drawing/2014/main" id="{894596FC-3BEC-4081-8CDB-319E3DDF6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EE166-DA07-4508-89D6-277F4FEB2DBD}"/>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914838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F2945-ABFA-4682-856C-F52A1C2FE7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20FD69-C964-4A32-B160-5907860475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5E4886-28B6-40D5-8E5F-D8F7CC09F7DF}"/>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5" name="Footer Placeholder 4">
            <a:extLst>
              <a:ext uri="{FF2B5EF4-FFF2-40B4-BE49-F238E27FC236}">
                <a16:creationId xmlns:a16="http://schemas.microsoft.com/office/drawing/2014/main" id="{5488DCD2-A132-40A0-8B3F-F3E6E0DA66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73444-5E7A-42DC-BD91-8A14F76F1A6F}"/>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3052071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C85BC-5108-439A-96EF-66C568893E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388D6-2D19-4067-A8A1-3976E574F7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AD3DE6-4A13-4743-B4FA-3B8F6124E4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72DE68-1686-4125-A544-C6E0BA4E7CA1}"/>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6" name="Footer Placeholder 5">
            <a:extLst>
              <a:ext uri="{FF2B5EF4-FFF2-40B4-BE49-F238E27FC236}">
                <a16:creationId xmlns:a16="http://schemas.microsoft.com/office/drawing/2014/main" id="{74F654E4-C912-402A-BA7E-077B0DFDAC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AE816B-7499-4A3E-98D5-07A5F8F33696}"/>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3405222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28C2C-0849-48D9-B4FD-3CBA7D1623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08EDC2-C60F-4E71-849F-61858BF807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DB78CB-EF00-46EA-BEF7-E2D187B6B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15A24-6CA0-4951-ADDA-C14A7084F2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C9A43E-2732-4A59-9296-456C54C550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B33BFC-CA89-4953-8DB9-7536FC0D62E3}"/>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8" name="Footer Placeholder 7">
            <a:extLst>
              <a:ext uri="{FF2B5EF4-FFF2-40B4-BE49-F238E27FC236}">
                <a16:creationId xmlns:a16="http://schemas.microsoft.com/office/drawing/2014/main" id="{516A04ED-0146-4DA9-98F8-10858155F7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F48485-1EFC-40CE-83EF-5A59AFE4407C}"/>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3302608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139D-7766-4CA9-848B-2E644A620F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335906-57DB-4446-86B9-30B28C88BA6A}"/>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4" name="Footer Placeholder 3">
            <a:extLst>
              <a:ext uri="{FF2B5EF4-FFF2-40B4-BE49-F238E27FC236}">
                <a16:creationId xmlns:a16="http://schemas.microsoft.com/office/drawing/2014/main" id="{C3A90889-6BFD-490E-BE91-D943AE727D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5194BE-C403-439B-9749-2A7C8AE813AE}"/>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1085267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45481-B160-421F-90CC-6EEDD03FEFF1}"/>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3" name="Footer Placeholder 2">
            <a:extLst>
              <a:ext uri="{FF2B5EF4-FFF2-40B4-BE49-F238E27FC236}">
                <a16:creationId xmlns:a16="http://schemas.microsoft.com/office/drawing/2014/main" id="{6B60A06A-7A08-4D37-B9DA-2807A1D07C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936E13-EC3F-43AB-99EE-7734F2A77E4D}"/>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1188739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8A303-9BC8-4450-BA4C-7A38168684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A6A8D9-3F63-49BA-AE5C-38ECD2789F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CC4F4-C0A9-420A-BC2F-B68554D98F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8C1148-2E03-4FFC-899F-CB29A53BBE95}"/>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6" name="Footer Placeholder 5">
            <a:extLst>
              <a:ext uri="{FF2B5EF4-FFF2-40B4-BE49-F238E27FC236}">
                <a16:creationId xmlns:a16="http://schemas.microsoft.com/office/drawing/2014/main" id="{7F36EC69-1EFA-41F1-A9EA-C9F458861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AA22DF-7D48-424B-9D00-8EF4006B657E}"/>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3399018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36F7-C4FC-4C62-8640-B2317FEE60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24C205-7BBB-43E6-B724-E30D7AFEBE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EB5D9B-901D-473D-ADE6-C78846D3B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17D7BB-C28F-4E8B-ADCC-EC7E00E4CAFB}"/>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6" name="Footer Placeholder 5">
            <a:extLst>
              <a:ext uri="{FF2B5EF4-FFF2-40B4-BE49-F238E27FC236}">
                <a16:creationId xmlns:a16="http://schemas.microsoft.com/office/drawing/2014/main" id="{C4EA8BE5-25FE-463C-A899-915EA1BE1E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001250-E6D0-4C05-AEFA-31DC2D5FFF59}"/>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253582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D2BA7-03D2-40E6-B021-8FAF81B460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5B58C6-11F5-447F-984F-33DDDAA866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B4E3BA-3524-4FD0-A11E-11A53105DA0C}"/>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5" name="Footer Placeholder 4">
            <a:extLst>
              <a:ext uri="{FF2B5EF4-FFF2-40B4-BE49-F238E27FC236}">
                <a16:creationId xmlns:a16="http://schemas.microsoft.com/office/drawing/2014/main" id="{A42FD1C9-C974-4B85-9F74-B40BECABD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6BC6D1-7577-44CB-9EFA-06F277664253}"/>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3023455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ACB822-1138-4C6B-B11E-AA9107DAC0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04FF43-AD54-4AB2-BF12-2D2144FDC0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F85A2D-A81D-4CB0-9B21-F8434029E4A7}"/>
              </a:ext>
            </a:extLst>
          </p:cNvPr>
          <p:cNvSpPr>
            <a:spLocks noGrp="1"/>
          </p:cNvSpPr>
          <p:nvPr>
            <p:ph type="dt" sz="half" idx="10"/>
          </p:nvPr>
        </p:nvSpPr>
        <p:spPr/>
        <p:txBody>
          <a:bodyPr/>
          <a:lstStyle/>
          <a:p>
            <a:fld id="{73921982-A40D-4EFF-92B4-1BD6E181423E}" type="datetimeFigureOut">
              <a:rPr lang="en-US" smtClean="0"/>
              <a:t>3/10/2021</a:t>
            </a:fld>
            <a:endParaRPr lang="en-US"/>
          </a:p>
        </p:txBody>
      </p:sp>
      <p:sp>
        <p:nvSpPr>
          <p:cNvPr id="5" name="Footer Placeholder 4">
            <a:extLst>
              <a:ext uri="{FF2B5EF4-FFF2-40B4-BE49-F238E27FC236}">
                <a16:creationId xmlns:a16="http://schemas.microsoft.com/office/drawing/2014/main" id="{39491979-7326-4B45-A5E0-DE9698721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53971-1F7F-4E0A-9220-B3FD22F8FBBC}"/>
              </a:ext>
            </a:extLst>
          </p:cNvPr>
          <p:cNvSpPr>
            <a:spLocks noGrp="1"/>
          </p:cNvSpPr>
          <p:nvPr>
            <p:ph type="sldNum" sz="quarter" idx="12"/>
          </p:nvPr>
        </p:nvSpPr>
        <p:spPr/>
        <p:txBody>
          <a:bodyPr/>
          <a:lstStyle/>
          <a:p>
            <a:fld id="{A6FF649F-3727-4664-9F62-1A845F250725}" type="slidenum">
              <a:rPr lang="en-US" smtClean="0"/>
              <a:t>‹#›</a:t>
            </a:fld>
            <a:endParaRPr lang="en-US"/>
          </a:p>
        </p:txBody>
      </p:sp>
    </p:spTree>
    <p:extLst>
      <p:ext uri="{BB962C8B-B14F-4D97-AF65-F5344CB8AC3E}">
        <p14:creationId xmlns:p14="http://schemas.microsoft.com/office/powerpoint/2010/main" val="4263580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AEA1FF-B486-42D4-B825-170DA8C060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13D422-05D3-4B4B-B6EE-7DE513D6B2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51D3FF-1EFD-4EA0-B765-22F16485E2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921982-A40D-4EFF-92B4-1BD6E181423E}" type="datetimeFigureOut">
              <a:rPr lang="en-US" smtClean="0"/>
              <a:t>3/10/2021</a:t>
            </a:fld>
            <a:endParaRPr lang="en-US"/>
          </a:p>
        </p:txBody>
      </p:sp>
      <p:sp>
        <p:nvSpPr>
          <p:cNvPr id="5" name="Footer Placeholder 4">
            <a:extLst>
              <a:ext uri="{FF2B5EF4-FFF2-40B4-BE49-F238E27FC236}">
                <a16:creationId xmlns:a16="http://schemas.microsoft.com/office/drawing/2014/main" id="{5FA08EC0-95FD-4DCD-981B-3DB6A078ED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79532F-CAC1-412E-884B-3D92524AA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FF649F-3727-4664-9F62-1A845F250725}" type="slidenum">
              <a:rPr lang="en-US" smtClean="0"/>
              <a:t>‹#›</a:t>
            </a:fld>
            <a:endParaRPr lang="en-US"/>
          </a:p>
        </p:txBody>
      </p:sp>
    </p:spTree>
    <p:extLst>
      <p:ext uri="{BB962C8B-B14F-4D97-AF65-F5344CB8AC3E}">
        <p14:creationId xmlns:p14="http://schemas.microsoft.com/office/powerpoint/2010/main" val="906750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E7C5D-4E30-4495-BEA9-037C85D6F153}"/>
              </a:ext>
            </a:extLst>
          </p:cNvPr>
          <p:cNvSpPr>
            <a:spLocks noGrp="1"/>
          </p:cNvSpPr>
          <p:nvPr>
            <p:ph type="ctrTitle"/>
          </p:nvPr>
        </p:nvSpPr>
        <p:spPr/>
        <p:txBody>
          <a:bodyPr/>
          <a:lstStyle/>
          <a:p>
            <a:r>
              <a:rPr lang="en-US" dirty="0"/>
              <a:t>Covering credit </a:t>
            </a:r>
            <a:r>
              <a:rPr lang="en-US" dirty="0" err="1"/>
              <a:t>nfts</a:t>
            </a:r>
            <a:r>
              <a:rPr lang="en-US" dirty="0"/>
              <a:t> in 30 minutes</a:t>
            </a:r>
          </a:p>
        </p:txBody>
      </p:sp>
      <p:sp>
        <p:nvSpPr>
          <p:cNvPr id="3" name="Subtitle 2">
            <a:extLst>
              <a:ext uri="{FF2B5EF4-FFF2-40B4-BE49-F238E27FC236}">
                <a16:creationId xmlns:a16="http://schemas.microsoft.com/office/drawing/2014/main" id="{25A1FA50-7762-4311-B81B-EE3420CD58F6}"/>
              </a:ext>
            </a:extLst>
          </p:cNvPr>
          <p:cNvSpPr>
            <a:spLocks noGrp="1"/>
          </p:cNvSpPr>
          <p:nvPr>
            <p:ph type="subTitle" idx="1"/>
          </p:nvPr>
        </p:nvSpPr>
        <p:spPr/>
        <p:txBody>
          <a:bodyPr/>
          <a:lstStyle/>
          <a:p>
            <a:r>
              <a:rPr lang="en-US" dirty="0"/>
              <a:t>Spectral night lessons 1</a:t>
            </a:r>
          </a:p>
        </p:txBody>
      </p:sp>
    </p:spTree>
    <p:extLst>
      <p:ext uri="{BB962C8B-B14F-4D97-AF65-F5344CB8AC3E}">
        <p14:creationId xmlns:p14="http://schemas.microsoft.com/office/powerpoint/2010/main" val="3516567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D69CC-7C1F-4A4B-83ED-C1CF05365F23}"/>
              </a:ext>
            </a:extLst>
          </p:cNvPr>
          <p:cNvSpPr>
            <a:spLocks noGrp="1"/>
          </p:cNvSpPr>
          <p:nvPr>
            <p:ph type="title"/>
          </p:nvPr>
        </p:nvSpPr>
        <p:spPr/>
        <p:txBody>
          <a:bodyPr/>
          <a:lstStyle/>
          <a:p>
            <a:r>
              <a:rPr lang="en-US" dirty="0"/>
              <a:t>What goes into an NFT (mainly)</a:t>
            </a:r>
          </a:p>
        </p:txBody>
      </p:sp>
      <p:sp>
        <p:nvSpPr>
          <p:cNvPr id="3" name="Content Placeholder 2">
            <a:extLst>
              <a:ext uri="{FF2B5EF4-FFF2-40B4-BE49-F238E27FC236}">
                <a16:creationId xmlns:a16="http://schemas.microsoft.com/office/drawing/2014/main" id="{6561E5F1-386A-49D6-90DA-C2C218D4A081}"/>
              </a:ext>
            </a:extLst>
          </p:cNvPr>
          <p:cNvSpPr>
            <a:spLocks noGrp="1"/>
          </p:cNvSpPr>
          <p:nvPr>
            <p:ph idx="1"/>
          </p:nvPr>
        </p:nvSpPr>
        <p:spPr/>
        <p:txBody>
          <a:bodyPr/>
          <a:lstStyle/>
          <a:p>
            <a:r>
              <a:rPr lang="en-US" dirty="0"/>
              <a:t>It’s basically like assigning each element in an array to a wallet upon _mint()</a:t>
            </a:r>
          </a:p>
          <a:p>
            <a:r>
              <a:rPr lang="en-US" dirty="0"/>
              <a:t>Typically, a `</a:t>
            </a:r>
            <a:r>
              <a:rPr lang="en-US" dirty="0" err="1"/>
              <a:t>tokenURI</a:t>
            </a:r>
            <a:r>
              <a:rPr lang="en-US" dirty="0"/>
              <a:t>` is set to contain an </a:t>
            </a:r>
            <a:r>
              <a:rPr lang="en-US" dirty="0" err="1"/>
              <a:t>api</a:t>
            </a:r>
            <a:r>
              <a:rPr lang="en-US" dirty="0"/>
              <a:t>/</a:t>
            </a:r>
            <a:r>
              <a:rPr lang="en-US" dirty="0" err="1"/>
              <a:t>ipfs</a:t>
            </a:r>
            <a:r>
              <a:rPr lang="en-US" dirty="0"/>
              <a:t>/database link. </a:t>
            </a:r>
          </a:p>
          <a:p>
            <a:r>
              <a:rPr lang="en-US" dirty="0"/>
              <a:t>Use a </a:t>
            </a:r>
            <a:r>
              <a:rPr lang="en-US" dirty="0" err="1"/>
              <a:t>tokenId</a:t>
            </a:r>
            <a:r>
              <a:rPr lang="en-US" dirty="0"/>
              <a:t> to address mapping to hold a hash to a specific instance in database. </a:t>
            </a:r>
          </a:p>
          <a:p>
            <a:endParaRPr lang="en-US" dirty="0"/>
          </a:p>
          <a:p>
            <a:endParaRPr lang="en-US" dirty="0"/>
          </a:p>
        </p:txBody>
      </p:sp>
      <p:pic>
        <p:nvPicPr>
          <p:cNvPr id="7" name="Picture 6">
            <a:extLst>
              <a:ext uri="{FF2B5EF4-FFF2-40B4-BE49-F238E27FC236}">
                <a16:creationId xmlns:a16="http://schemas.microsoft.com/office/drawing/2014/main" id="{85C538CE-7B57-40EB-8648-484F08C59AA3}"/>
              </a:ext>
            </a:extLst>
          </p:cNvPr>
          <p:cNvPicPr>
            <a:picLocks noChangeAspect="1"/>
          </p:cNvPicPr>
          <p:nvPr/>
        </p:nvPicPr>
        <p:blipFill>
          <a:blip r:embed="rId2"/>
          <a:stretch>
            <a:fillRect/>
          </a:stretch>
        </p:blipFill>
        <p:spPr>
          <a:xfrm>
            <a:off x="4195457" y="4186499"/>
            <a:ext cx="4438650" cy="1857375"/>
          </a:xfrm>
          <a:prstGeom prst="rect">
            <a:avLst/>
          </a:prstGeom>
        </p:spPr>
      </p:pic>
    </p:spTree>
    <p:extLst>
      <p:ext uri="{BB962C8B-B14F-4D97-AF65-F5344CB8AC3E}">
        <p14:creationId xmlns:p14="http://schemas.microsoft.com/office/powerpoint/2010/main" val="1144896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4E437-9470-49CB-A021-5413DDA18C32}"/>
              </a:ext>
            </a:extLst>
          </p:cNvPr>
          <p:cNvSpPr>
            <a:spLocks noGrp="1"/>
          </p:cNvSpPr>
          <p:nvPr>
            <p:ph type="title"/>
          </p:nvPr>
        </p:nvSpPr>
        <p:spPr/>
        <p:txBody>
          <a:bodyPr/>
          <a:lstStyle/>
          <a:p>
            <a:r>
              <a:rPr lang="en-US" dirty="0"/>
              <a:t>What’s in our NFC v1	</a:t>
            </a:r>
          </a:p>
        </p:txBody>
      </p:sp>
      <p:sp>
        <p:nvSpPr>
          <p:cNvPr id="3" name="Content Placeholder 2">
            <a:extLst>
              <a:ext uri="{FF2B5EF4-FFF2-40B4-BE49-F238E27FC236}">
                <a16:creationId xmlns:a16="http://schemas.microsoft.com/office/drawing/2014/main" id="{53A6027F-70BE-47EB-88D8-B20319252B2B}"/>
              </a:ext>
            </a:extLst>
          </p:cNvPr>
          <p:cNvSpPr>
            <a:spLocks noGrp="1"/>
          </p:cNvSpPr>
          <p:nvPr>
            <p:ph idx="1"/>
          </p:nvPr>
        </p:nvSpPr>
        <p:spPr/>
        <p:txBody>
          <a:bodyPr>
            <a:normAutofit/>
          </a:bodyPr>
          <a:lstStyle/>
          <a:p>
            <a:r>
              <a:rPr lang="en-US" sz="2000" dirty="0"/>
              <a:t>Essentially a fork on the </a:t>
            </a:r>
            <a:r>
              <a:rPr lang="en-US" sz="2000" dirty="0" err="1"/>
              <a:t>Hodlberg</a:t>
            </a:r>
            <a:r>
              <a:rPr lang="en-US" sz="2000" dirty="0"/>
              <a:t> contract, just with a few tweaks for transferring ownership. Most of the changes/improvements we’ve made are in the address batching of the frontend. Batched addresses have a bytes32 hash key, which goes into the _</a:t>
            </a:r>
            <a:r>
              <a:rPr lang="en-US" sz="2000" dirty="0" err="1"/>
              <a:t>originalOwner</a:t>
            </a:r>
            <a:r>
              <a:rPr lang="en-US" sz="2000" dirty="0"/>
              <a:t> mapping. </a:t>
            </a:r>
          </a:p>
        </p:txBody>
      </p:sp>
      <p:pic>
        <p:nvPicPr>
          <p:cNvPr id="5" name="Picture 4">
            <a:extLst>
              <a:ext uri="{FF2B5EF4-FFF2-40B4-BE49-F238E27FC236}">
                <a16:creationId xmlns:a16="http://schemas.microsoft.com/office/drawing/2014/main" id="{B22C0D65-EC02-4C4B-8075-D60DF6E1063A}"/>
              </a:ext>
            </a:extLst>
          </p:cNvPr>
          <p:cNvPicPr>
            <a:picLocks noChangeAspect="1"/>
          </p:cNvPicPr>
          <p:nvPr/>
        </p:nvPicPr>
        <p:blipFill>
          <a:blip r:embed="rId2"/>
          <a:stretch>
            <a:fillRect/>
          </a:stretch>
        </p:blipFill>
        <p:spPr>
          <a:xfrm>
            <a:off x="3221633" y="3021278"/>
            <a:ext cx="3805545" cy="3565046"/>
          </a:xfrm>
          <a:prstGeom prst="rect">
            <a:avLst/>
          </a:prstGeom>
        </p:spPr>
      </p:pic>
      <p:pic>
        <p:nvPicPr>
          <p:cNvPr id="7" name="Picture 6">
            <a:extLst>
              <a:ext uri="{FF2B5EF4-FFF2-40B4-BE49-F238E27FC236}">
                <a16:creationId xmlns:a16="http://schemas.microsoft.com/office/drawing/2014/main" id="{34B393DF-72CB-4439-B8EF-2DBAB960D88A}"/>
              </a:ext>
            </a:extLst>
          </p:cNvPr>
          <p:cNvPicPr>
            <a:picLocks noChangeAspect="1"/>
          </p:cNvPicPr>
          <p:nvPr/>
        </p:nvPicPr>
        <p:blipFill>
          <a:blip r:embed="rId3"/>
          <a:stretch>
            <a:fillRect/>
          </a:stretch>
        </p:blipFill>
        <p:spPr>
          <a:xfrm>
            <a:off x="7304976" y="3098826"/>
            <a:ext cx="3219450" cy="3409950"/>
          </a:xfrm>
          <a:prstGeom prst="rect">
            <a:avLst/>
          </a:prstGeom>
        </p:spPr>
      </p:pic>
      <p:grpSp>
        <p:nvGrpSpPr>
          <p:cNvPr id="12" name="Group 11">
            <a:extLst>
              <a:ext uri="{FF2B5EF4-FFF2-40B4-BE49-F238E27FC236}">
                <a16:creationId xmlns:a16="http://schemas.microsoft.com/office/drawing/2014/main" id="{F1EE3628-93C7-4E42-8D82-05B53530780D}"/>
              </a:ext>
            </a:extLst>
          </p:cNvPr>
          <p:cNvGrpSpPr/>
          <p:nvPr/>
        </p:nvGrpSpPr>
        <p:grpSpPr>
          <a:xfrm>
            <a:off x="1203208" y="3098826"/>
            <a:ext cx="1740627" cy="3336584"/>
            <a:chOff x="398566" y="3325241"/>
            <a:chExt cx="1475638" cy="3108121"/>
          </a:xfrm>
        </p:grpSpPr>
        <p:pic>
          <p:nvPicPr>
            <p:cNvPr id="1026" name="Picture 2" descr="This meme was made by intellectual property theft gang : ProgrammerHumor">
              <a:extLst>
                <a:ext uri="{FF2B5EF4-FFF2-40B4-BE49-F238E27FC236}">
                  <a16:creationId xmlns:a16="http://schemas.microsoft.com/office/drawing/2014/main" id="{B50DB83C-6645-4EA1-B179-194E080BB9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66" y="3325241"/>
              <a:ext cx="1475638" cy="310812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7F8506F-2445-4AFC-916C-E182FFA9079B}"/>
                </a:ext>
              </a:extLst>
            </p:cNvPr>
            <p:cNvPicPr>
              <a:picLocks noChangeAspect="1"/>
            </p:cNvPicPr>
            <p:nvPr/>
          </p:nvPicPr>
          <p:blipFill>
            <a:blip r:embed="rId5"/>
            <a:stretch>
              <a:fillRect/>
            </a:stretch>
          </p:blipFill>
          <p:spPr>
            <a:xfrm>
              <a:off x="529903" y="3788232"/>
              <a:ext cx="361521" cy="308678"/>
            </a:xfrm>
            <a:prstGeom prst="rect">
              <a:avLst/>
            </a:prstGeom>
          </p:spPr>
        </p:pic>
        <p:pic>
          <p:nvPicPr>
            <p:cNvPr id="11" name="Picture 10">
              <a:extLst>
                <a:ext uri="{FF2B5EF4-FFF2-40B4-BE49-F238E27FC236}">
                  <a16:creationId xmlns:a16="http://schemas.microsoft.com/office/drawing/2014/main" id="{1D90B9F8-57FF-44CC-ADC2-2F5765598B82}"/>
                </a:ext>
              </a:extLst>
            </p:cNvPr>
            <p:cNvPicPr>
              <a:picLocks noChangeAspect="1"/>
            </p:cNvPicPr>
            <p:nvPr/>
          </p:nvPicPr>
          <p:blipFill>
            <a:blip r:embed="rId6"/>
            <a:stretch>
              <a:fillRect/>
            </a:stretch>
          </p:blipFill>
          <p:spPr>
            <a:xfrm>
              <a:off x="1199721" y="3808726"/>
              <a:ext cx="288685" cy="267690"/>
            </a:xfrm>
            <a:prstGeom prst="rect">
              <a:avLst/>
            </a:prstGeom>
          </p:spPr>
        </p:pic>
        <p:pic>
          <p:nvPicPr>
            <p:cNvPr id="13" name="Picture 12">
              <a:extLst>
                <a:ext uri="{FF2B5EF4-FFF2-40B4-BE49-F238E27FC236}">
                  <a16:creationId xmlns:a16="http://schemas.microsoft.com/office/drawing/2014/main" id="{142CEB1B-5AD0-4206-A5A4-F05B301707CD}"/>
                </a:ext>
              </a:extLst>
            </p:cNvPr>
            <p:cNvPicPr>
              <a:picLocks noChangeAspect="1"/>
            </p:cNvPicPr>
            <p:nvPr/>
          </p:nvPicPr>
          <p:blipFill>
            <a:blip r:embed="rId6"/>
            <a:stretch>
              <a:fillRect/>
            </a:stretch>
          </p:blipFill>
          <p:spPr>
            <a:xfrm>
              <a:off x="1199720" y="4611611"/>
              <a:ext cx="288685" cy="267690"/>
            </a:xfrm>
            <a:prstGeom prst="rect">
              <a:avLst/>
            </a:prstGeom>
          </p:spPr>
        </p:pic>
        <p:pic>
          <p:nvPicPr>
            <p:cNvPr id="14" name="Picture 13">
              <a:extLst>
                <a:ext uri="{FF2B5EF4-FFF2-40B4-BE49-F238E27FC236}">
                  <a16:creationId xmlns:a16="http://schemas.microsoft.com/office/drawing/2014/main" id="{EEDC9D51-7C9B-4FCD-B596-61092182BDD6}"/>
                </a:ext>
              </a:extLst>
            </p:cNvPr>
            <p:cNvPicPr>
              <a:picLocks noChangeAspect="1"/>
            </p:cNvPicPr>
            <p:nvPr/>
          </p:nvPicPr>
          <p:blipFill>
            <a:blip r:embed="rId6"/>
            <a:stretch>
              <a:fillRect/>
            </a:stretch>
          </p:blipFill>
          <p:spPr>
            <a:xfrm>
              <a:off x="1199720" y="5578099"/>
              <a:ext cx="288685" cy="267690"/>
            </a:xfrm>
            <a:prstGeom prst="rect">
              <a:avLst/>
            </a:prstGeom>
          </p:spPr>
        </p:pic>
      </p:grpSp>
    </p:spTree>
    <p:extLst>
      <p:ext uri="{BB962C8B-B14F-4D97-AF65-F5344CB8AC3E}">
        <p14:creationId xmlns:p14="http://schemas.microsoft.com/office/powerpoint/2010/main" val="406779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DCB2E-0BE8-47DE-A46E-82CFF4899D62}"/>
              </a:ext>
            </a:extLst>
          </p:cNvPr>
          <p:cNvSpPr>
            <a:spLocks noGrp="1"/>
          </p:cNvSpPr>
          <p:nvPr>
            <p:ph type="title"/>
          </p:nvPr>
        </p:nvSpPr>
        <p:spPr/>
        <p:txBody>
          <a:bodyPr/>
          <a:lstStyle/>
          <a:p>
            <a:r>
              <a:rPr lang="en-US" dirty="0"/>
              <a:t>Most of the fun begins in v2</a:t>
            </a:r>
          </a:p>
        </p:txBody>
      </p:sp>
      <p:sp>
        <p:nvSpPr>
          <p:cNvPr id="3" name="Content Placeholder 2">
            <a:extLst>
              <a:ext uri="{FF2B5EF4-FFF2-40B4-BE49-F238E27FC236}">
                <a16:creationId xmlns:a16="http://schemas.microsoft.com/office/drawing/2014/main" id="{4062456F-1393-470E-8037-EF929EB0EE61}"/>
              </a:ext>
            </a:extLst>
          </p:cNvPr>
          <p:cNvSpPr>
            <a:spLocks noGrp="1"/>
          </p:cNvSpPr>
          <p:nvPr>
            <p:ph idx="1"/>
          </p:nvPr>
        </p:nvSpPr>
        <p:spPr/>
        <p:txBody>
          <a:bodyPr>
            <a:normAutofit/>
          </a:bodyPr>
          <a:lstStyle/>
          <a:p>
            <a:r>
              <a:rPr lang="en-US" sz="2400" dirty="0"/>
              <a:t>Version 2 will include two main capabilities: </a:t>
            </a:r>
          </a:p>
          <a:p>
            <a:pPr lvl="1"/>
            <a:r>
              <a:rPr lang="en-US" sz="2000" dirty="0"/>
              <a:t>A market making mechanism for calculating the </a:t>
            </a:r>
            <a:r>
              <a:rPr lang="en-US" sz="2000" b="1" dirty="0"/>
              <a:t>yield price </a:t>
            </a:r>
            <a:r>
              <a:rPr lang="en-US" sz="2000" dirty="0"/>
              <a:t>of borrowing someone’s NFC</a:t>
            </a:r>
          </a:p>
          <a:p>
            <a:pPr lvl="1"/>
            <a:r>
              <a:rPr lang="en-US" sz="2000" dirty="0"/>
              <a:t>A debt token NFT tied to the original NFC</a:t>
            </a:r>
          </a:p>
          <a:p>
            <a:r>
              <a:rPr lang="en-US" sz="2400" dirty="0"/>
              <a:t>Architecturally, this will likely be a minimal proxy ERC1155 that contains the NFC and debt token NFT internally. </a:t>
            </a:r>
          </a:p>
          <a:p>
            <a:pPr lvl="1"/>
            <a:r>
              <a:rPr lang="en-US" sz="2000" dirty="0"/>
              <a:t>Wtf does that mean in English: store two NFTs on the same contract and create a contract factory that is gas efficient (like having most of the functions deployed in a library and the clones call those library functions. It’s technically not a library because libraries cannot mutate storage, so it requires something a little more complex.)</a:t>
            </a:r>
          </a:p>
        </p:txBody>
      </p:sp>
    </p:spTree>
    <p:extLst>
      <p:ext uri="{BB962C8B-B14F-4D97-AF65-F5344CB8AC3E}">
        <p14:creationId xmlns:p14="http://schemas.microsoft.com/office/powerpoint/2010/main" val="2547668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4824C-8806-4437-8BA6-BBA54A1B4FA0}"/>
              </a:ext>
            </a:extLst>
          </p:cNvPr>
          <p:cNvSpPr>
            <a:spLocks noGrp="1"/>
          </p:cNvSpPr>
          <p:nvPr>
            <p:ph type="title"/>
          </p:nvPr>
        </p:nvSpPr>
        <p:spPr/>
        <p:txBody>
          <a:bodyPr/>
          <a:lstStyle/>
          <a:p>
            <a:r>
              <a:rPr lang="en-US" dirty="0"/>
              <a:t>What’s needed for v2</a:t>
            </a:r>
          </a:p>
        </p:txBody>
      </p:sp>
      <p:sp>
        <p:nvSpPr>
          <p:cNvPr id="3" name="Content Placeholder 2">
            <a:extLst>
              <a:ext uri="{FF2B5EF4-FFF2-40B4-BE49-F238E27FC236}">
                <a16:creationId xmlns:a16="http://schemas.microsoft.com/office/drawing/2014/main" id="{1944C8AA-E433-4059-BA6E-828070AF76DB}"/>
              </a:ext>
            </a:extLst>
          </p:cNvPr>
          <p:cNvSpPr>
            <a:spLocks noGrp="1"/>
          </p:cNvSpPr>
          <p:nvPr>
            <p:ph idx="1"/>
          </p:nvPr>
        </p:nvSpPr>
        <p:spPr/>
        <p:txBody>
          <a:bodyPr>
            <a:normAutofit/>
          </a:bodyPr>
          <a:lstStyle/>
          <a:p>
            <a:r>
              <a:rPr lang="en-US" sz="2400" dirty="0"/>
              <a:t>A yield pricing formula, which I’ve started working on in overleaf already with base assumptions. Complexity starts with tranches and how to simulate supply and demand of credit scores on chain. </a:t>
            </a:r>
          </a:p>
          <a:p>
            <a:pPr lvl="1"/>
            <a:r>
              <a:rPr lang="en-US" sz="2000" dirty="0"/>
              <a:t>This can either follow a supply/demand curve scaled by mints for determining price/yield, or it can replicate a yield curve (scaled by tenor of debt NFT instead). I prefer the yield curve, but it is more prone to wild shifts if there is low liquidity (i.e. it will need some amount of smoothing in the function by bounding values to not have each 50bps make a weird jump).</a:t>
            </a:r>
          </a:p>
          <a:p>
            <a:r>
              <a:rPr lang="en-US" sz="2400" dirty="0"/>
              <a:t>This also depends on how many different types of debt we issue, since those would need to be attached in the ERC1155 on deploy. </a:t>
            </a:r>
          </a:p>
          <a:p>
            <a:pPr lvl="1"/>
            <a:r>
              <a:rPr lang="en-US" sz="2000" dirty="0"/>
              <a:t>There may be a way to plug and play debt token types, but then that leaves us exposed to security issues/hacks if the base contract is “tricked” into accepting a false debt token type.</a:t>
            </a:r>
          </a:p>
        </p:txBody>
      </p:sp>
    </p:spTree>
    <p:extLst>
      <p:ext uri="{BB962C8B-B14F-4D97-AF65-F5344CB8AC3E}">
        <p14:creationId xmlns:p14="http://schemas.microsoft.com/office/powerpoint/2010/main" val="3736149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TotalTime>
  <Words>429</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Covering credit nfts in 30 minutes</vt:lpstr>
      <vt:lpstr>What goes into an NFT (mainly)</vt:lpstr>
      <vt:lpstr>What’s in our NFC v1 </vt:lpstr>
      <vt:lpstr>Most of the fun begins in v2</vt:lpstr>
      <vt:lpstr>What’s needed for v2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Covering nfts</dc:title>
  <dc:creator>Andrew Hong</dc:creator>
  <cp:lastModifiedBy>Andrew Hong</cp:lastModifiedBy>
  <cp:revision>11</cp:revision>
  <dcterms:created xsi:type="dcterms:W3CDTF">2021-03-11T02:31:30Z</dcterms:created>
  <dcterms:modified xsi:type="dcterms:W3CDTF">2021-03-11T13:22:16Z</dcterms:modified>
</cp:coreProperties>
</file>